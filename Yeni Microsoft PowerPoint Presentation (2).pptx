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5"/>
  </p:notesMasterIdLst>
  <p:sldIdLst>
    <p:sldId id="256" r:id="rId2"/>
    <p:sldId id="257" r:id="rId3"/>
    <p:sldId id="258" r:id="rId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ĞU HAN" initials="BH" lastIdx="0" clrIdx="0">
    <p:extLst>
      <p:ext uri="{19B8F6BF-5375-455C-9EA6-DF929625EA0E}">
        <p15:presenceInfo xmlns:p15="http://schemas.microsoft.com/office/powerpoint/2012/main" userId="BUĞU H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85" autoAdjust="0"/>
    <p:restoredTop sz="94660"/>
  </p:normalViewPr>
  <p:slideViewPr>
    <p:cSldViewPr snapToGrid="0">
      <p:cViewPr varScale="1">
        <p:scale>
          <a:sx n="89" d="100"/>
          <a:sy n="89" d="100"/>
        </p:scale>
        <p:origin x="39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2ACBD-63F9-43A0-A8CE-70BBF2C032DB}" type="datetimeFigureOut">
              <a:rPr lang="tr-TR" smtClean="0"/>
              <a:t>13.01.2025</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4F88DB-D24C-4F24-92D9-BD976A145582}" type="slidenum">
              <a:rPr lang="tr-TR" smtClean="0"/>
              <a:t>‹#›</a:t>
            </a:fld>
            <a:endParaRPr lang="tr-TR"/>
          </a:p>
        </p:txBody>
      </p:sp>
    </p:spTree>
    <p:extLst>
      <p:ext uri="{BB962C8B-B14F-4D97-AF65-F5344CB8AC3E}">
        <p14:creationId xmlns:p14="http://schemas.microsoft.com/office/powerpoint/2010/main" val="4138018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F54F88DB-D24C-4F24-92D9-BD976A145582}" type="slidenum">
              <a:rPr lang="tr-TR" smtClean="0"/>
              <a:t>1</a:t>
            </a:fld>
            <a:endParaRPr lang="tr-TR"/>
          </a:p>
        </p:txBody>
      </p:sp>
    </p:spTree>
    <p:extLst>
      <p:ext uri="{BB962C8B-B14F-4D97-AF65-F5344CB8AC3E}">
        <p14:creationId xmlns:p14="http://schemas.microsoft.com/office/powerpoint/2010/main" val="1323164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F54F88DB-D24C-4F24-92D9-BD976A145582}" type="slidenum">
              <a:rPr lang="tr-TR" smtClean="0"/>
              <a:t>2</a:t>
            </a:fld>
            <a:endParaRPr lang="tr-TR"/>
          </a:p>
        </p:txBody>
      </p:sp>
    </p:spTree>
    <p:extLst>
      <p:ext uri="{BB962C8B-B14F-4D97-AF65-F5344CB8AC3E}">
        <p14:creationId xmlns:p14="http://schemas.microsoft.com/office/powerpoint/2010/main" val="2724377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962979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tr-TR" smtClean="0"/>
              <a:t>Asıl başlık stili için tıklatın</a:t>
            </a:r>
            <a:endParaRPr lang="en-US" dirty="0"/>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2984554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801698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AE645B53-F38A-4CE2-B05B-40ADDC2FFAB4}" type="datetimeFigureOut">
              <a:rPr lang="tr-TR" smtClean="0"/>
              <a:t>13.01.2025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3457845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AE645B53-F38A-4CE2-B05B-40ADDC2FFAB4}" type="datetimeFigureOut">
              <a:rPr lang="tr-TR" smtClean="0"/>
              <a:t>13.01.2025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979637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AE645B53-F38A-4CE2-B05B-40ADDC2FFAB4}" type="datetimeFigureOut">
              <a:rPr lang="tr-TR" smtClean="0"/>
              <a:t>13.01.2025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2514361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645B53-F38A-4CE2-B05B-40ADDC2FFAB4}" type="datetimeFigureOut">
              <a:rPr lang="tr-TR" smtClean="0"/>
              <a:t>13.01.2025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2734133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tr-TR" smtClean="0"/>
              <a:t>Asıl başlık stili için tıklatın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E645B53-F38A-4CE2-B05B-40ADDC2FFAB4}" type="datetimeFigureOut">
              <a:rPr lang="tr-TR" smtClean="0"/>
              <a:t>13.01.2025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3735221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E645B53-F38A-4CE2-B05B-40ADDC2FFAB4}" type="datetimeFigureOut">
              <a:rPr lang="tr-TR" smtClean="0"/>
              <a:t>13.01.2025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1795187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3146521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tr-TR" smtClean="0"/>
              <a:t>Asıl başlık stili için tıklatın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smtClean="0"/>
              <a:t>Asıl metin stillerini düzenlemek için tıklatın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76958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1769946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tr-TR" smtClean="0"/>
              <a:t>Asıl başlık stili için tıklatın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smtClean="0"/>
              <a:t>Asıl metin stillerini düzenlemek için tıklatın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65143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tr-TR" smtClean="0"/>
              <a:t>Asıl başlık stili için tıklatın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smtClean="0"/>
              <a:t>Asıl metin stillerini düzenlemek için tıklatın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260687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1886081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AE645B53-F38A-4CE2-B05B-40ADDC2FFAB4}" type="datetimeFigureOut">
              <a:rPr lang="tr-TR" smtClean="0"/>
              <a:t>13.01.2025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0F6D09D-5531-4A8B-AAED-A39D478CF354}" type="slidenum">
              <a:rPr lang="tr-TR" smtClean="0"/>
              <a:t>‹#›</a:t>
            </a:fld>
            <a:endParaRPr lang="tr-TR"/>
          </a:p>
        </p:txBody>
      </p:sp>
    </p:spTree>
    <p:extLst>
      <p:ext uri="{BB962C8B-B14F-4D97-AF65-F5344CB8AC3E}">
        <p14:creationId xmlns:p14="http://schemas.microsoft.com/office/powerpoint/2010/main" val="2460568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E645B53-F38A-4CE2-B05B-40ADDC2FFAB4}" type="datetimeFigureOut">
              <a:rPr lang="tr-TR" smtClean="0"/>
              <a:t>13.01.2025</a:t>
            </a:fld>
            <a:endParaRPr lang="tr-T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0F6D09D-5531-4A8B-AAED-A39D478CF354}" type="slidenum">
              <a:rPr lang="tr-TR" smtClean="0"/>
              <a:t>‹#›</a:t>
            </a:fld>
            <a:endParaRPr lang="tr-TR"/>
          </a:p>
        </p:txBody>
      </p:sp>
    </p:spTree>
    <p:extLst>
      <p:ext uri="{BB962C8B-B14F-4D97-AF65-F5344CB8AC3E}">
        <p14:creationId xmlns:p14="http://schemas.microsoft.com/office/powerpoint/2010/main" val="411547801"/>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acebook.com/notes/mark-zuckerberg/the-technology-behind-aquila/10153916136506634/" TargetMode="External"/><Relationship Id="rId2" Type="http://schemas.openxmlformats.org/officeDocument/2006/relationships/hyperlink" Target="http://ieeexplore.ieee.org/stamp/stamp.jsp?arnumber=7445230" TargetMode="External"/><Relationship Id="rId1" Type="http://schemas.openxmlformats.org/officeDocument/2006/relationships/slideLayout" Target="../slideLayouts/slideLayout2.xml"/><Relationship Id="rId5" Type="http://schemas.openxmlformats.org/officeDocument/2006/relationships/hyperlink" Target="http://www.bbc.com/news/science-environment-36890563" TargetMode="External"/><Relationship Id="rId4" Type="http://schemas.openxmlformats.org/officeDocument/2006/relationships/hyperlink" Target="https://www.theguardian.com/technology/2016/jan/29/project-skybender-google-drone-tests-internet-spaceport-virgin-galactic"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accent1">
                <a:lumMod val="50000"/>
                <a:alpha val="91000"/>
              </a:schemeClr>
            </a:gs>
            <a:gs pos="83000">
              <a:schemeClr val="accent1">
                <a:lumMod val="45000"/>
                <a:lumOff val="55000"/>
              </a:schemeClr>
            </a:gs>
            <a:gs pos="100000">
              <a:schemeClr val="accent6">
                <a:lumMod val="7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Unvan 1"/>
          <p:cNvSpPr>
            <a:spLocks noGrp="1"/>
          </p:cNvSpPr>
          <p:nvPr>
            <p:ph type="ctrTitle"/>
          </p:nvPr>
        </p:nvSpPr>
        <p:spPr>
          <a:xfrm>
            <a:off x="963284" y="0"/>
            <a:ext cx="10483968" cy="1259457"/>
          </a:xfrm>
        </p:spPr>
        <p:txBody>
          <a:bodyPr>
            <a:normAutofit fontScale="90000"/>
          </a:bodyPr>
          <a:lstStyle/>
          <a:p>
            <a:r>
              <a:rPr lang="tr-TR" sz="4000" b="1" dirty="0">
                <a:solidFill>
                  <a:srgbClr val="FF0000"/>
                </a:solidFill>
              </a:rPr>
              <a:t>Askerlerin anlık durumunu tespit edecek cihaz</a:t>
            </a:r>
            <a:br>
              <a:rPr lang="tr-TR" sz="4000" b="1" dirty="0">
                <a:solidFill>
                  <a:srgbClr val="FF0000"/>
                </a:solidFill>
              </a:rPr>
            </a:br>
            <a:endParaRPr lang="tr-TR" sz="4000" dirty="0">
              <a:solidFill>
                <a:srgbClr val="FF0000"/>
              </a:solidFill>
            </a:endParaRPr>
          </a:p>
        </p:txBody>
      </p:sp>
      <p:sp>
        <p:nvSpPr>
          <p:cNvPr id="3" name="Alt Başlık 2"/>
          <p:cNvSpPr>
            <a:spLocks noGrp="1"/>
          </p:cNvSpPr>
          <p:nvPr>
            <p:ph type="subTitle" idx="1"/>
          </p:nvPr>
        </p:nvSpPr>
        <p:spPr>
          <a:xfrm>
            <a:off x="153361" y="4586378"/>
            <a:ext cx="6359582" cy="1434860"/>
          </a:xfrm>
        </p:spPr>
        <p:txBody>
          <a:bodyPr>
            <a:noAutofit/>
          </a:bodyPr>
          <a:lstStyle/>
          <a:p>
            <a:pPr algn="ctr"/>
            <a:r>
              <a:rPr lang="tr-TR" sz="2500" dirty="0"/>
              <a:t>Geliştirilen cihaz, içerisinde GSM ve GPS haberleşme modülü, LCD ekran, röle, kalp ritmi, EKG ve sıcaklık ölçümüne yarayan </a:t>
            </a:r>
            <a:r>
              <a:rPr lang="tr-TR" sz="2500" dirty="0" err="1"/>
              <a:t>sensörler</a:t>
            </a:r>
            <a:r>
              <a:rPr lang="tr-TR" sz="2500" dirty="0"/>
              <a:t> bulunduruyor.</a:t>
            </a:r>
          </a:p>
          <a:p>
            <a:pPr algn="ctr"/>
            <a:endParaRPr lang="tr-TR" sz="2500" dirty="0"/>
          </a:p>
        </p:txBody>
      </p:sp>
      <p:pic>
        <p:nvPicPr>
          <p:cNvPr id="1026" name="Picture 2" descr="Geliştirilen cihaz, içerisinde GSM ve GPS haberleşme modülü, LCD ekran, röle, kalp ritmi, EKG ve sıcaklık ölçümüne yarayan sensörler bulunduruy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361" y="909538"/>
            <a:ext cx="6149065" cy="3519578"/>
          </a:xfrm>
          <a:prstGeom prst="rect">
            <a:avLst/>
          </a:prstGeom>
          <a:noFill/>
          <a:extLst>
            <a:ext uri="{909E8E84-426E-40DD-AFC4-6F175D3DCCD1}">
              <a14:hiddenFill xmlns:a14="http://schemas.microsoft.com/office/drawing/2010/main">
                <a:solidFill>
                  <a:srgbClr val="FFFFFF"/>
                </a:solidFill>
              </a14:hiddenFill>
            </a:ext>
          </a:extLst>
        </p:spPr>
      </p:pic>
      <p:sp>
        <p:nvSpPr>
          <p:cNvPr id="4" name="Metin kutusu 3"/>
          <p:cNvSpPr txBox="1"/>
          <p:nvPr/>
        </p:nvSpPr>
        <p:spPr>
          <a:xfrm>
            <a:off x="6654728" y="909538"/>
            <a:ext cx="5049592" cy="5047536"/>
          </a:xfrm>
          <a:prstGeom prst="rect">
            <a:avLst/>
          </a:prstGeom>
          <a:noFill/>
        </p:spPr>
        <p:txBody>
          <a:bodyPr wrap="square" rtlCol="0">
            <a:spAutoFit/>
          </a:bodyPr>
          <a:lstStyle/>
          <a:p>
            <a:r>
              <a:rPr lang="tr-TR" sz="2300" b="1" dirty="0"/>
              <a:t>İzmir’de üniversite öğrencileri; askeri personeli izlemeye imkan tanıyan, sağlık durumlarını anlık takip ederek kritik durumlarda geri bildirimde bulunan taşınabilir bir cihaz geliştirdi. Proje sayesinde, internet sitesi üzerindeki panelden gerçek zamanlı erişim sağlanarak personelin sağlık durumu ve konum bilgileri görülebilecek, uzaktan müdahale imkanı bulunabilecek. Projenin, sadece askeri uygulamalarda değil, sivil savunma ve itfaiye operasyonlarında da kullanılabileceği belirtildi.</a:t>
            </a:r>
          </a:p>
        </p:txBody>
      </p:sp>
    </p:spTree>
    <p:extLst>
      <p:ext uri="{BB962C8B-B14F-4D97-AF65-F5344CB8AC3E}">
        <p14:creationId xmlns:p14="http://schemas.microsoft.com/office/powerpoint/2010/main" val="19334410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Unvan 1"/>
          <p:cNvSpPr>
            <a:spLocks noGrp="1"/>
          </p:cNvSpPr>
          <p:nvPr>
            <p:ph type="title"/>
          </p:nvPr>
        </p:nvSpPr>
        <p:spPr>
          <a:xfrm>
            <a:off x="1942613" y="3519578"/>
            <a:ext cx="1452785" cy="381862"/>
          </a:xfrm>
        </p:spPr>
        <p:txBody>
          <a:bodyPr>
            <a:normAutofit fontScale="90000"/>
          </a:bodyPr>
          <a:lstStyle/>
          <a:p>
            <a:r>
              <a:rPr lang="tr-TR" sz="2500" dirty="0" smtClean="0">
                <a:solidFill>
                  <a:schemeClr val="accent5"/>
                </a:solidFill>
              </a:rPr>
              <a:t>Detaylar:</a:t>
            </a:r>
            <a:endParaRPr lang="tr-TR" sz="2500" dirty="0">
              <a:solidFill>
                <a:schemeClr val="accent5"/>
              </a:solidFill>
            </a:endParaRPr>
          </a:p>
        </p:txBody>
      </p:sp>
      <p:sp>
        <p:nvSpPr>
          <p:cNvPr id="3" name="İçerik Yer Tutucusu 2"/>
          <p:cNvSpPr>
            <a:spLocks noGrp="1"/>
          </p:cNvSpPr>
          <p:nvPr>
            <p:ph idx="1"/>
          </p:nvPr>
        </p:nvSpPr>
        <p:spPr>
          <a:xfrm>
            <a:off x="240024" y="3903740"/>
            <a:ext cx="5246375" cy="2956560"/>
          </a:xfrm>
        </p:spPr>
        <p:txBody>
          <a:bodyPr>
            <a:noAutofit/>
          </a:bodyPr>
          <a:lstStyle/>
          <a:p>
            <a:pPr marL="0" indent="0">
              <a:buNone/>
            </a:pPr>
            <a:r>
              <a:rPr lang="tr-TR" sz="1600" dirty="0"/>
              <a:t>İzmir Ekonomi </a:t>
            </a:r>
            <a:r>
              <a:rPr lang="tr-TR" sz="1600" dirty="0" err="1"/>
              <a:t>Üniveritesi</a:t>
            </a:r>
            <a:r>
              <a:rPr lang="tr-TR" sz="1600" dirty="0"/>
              <a:t> (İEÜ) Elektrik Elektronik Mühendisliği 4. sınıf öğrencileri Alper Köprülü, Kemal Can Örnek ve </a:t>
            </a:r>
            <a:r>
              <a:rPr lang="tr-TR" sz="1600" dirty="0" err="1"/>
              <a:t>Dirsehan</a:t>
            </a:r>
            <a:r>
              <a:rPr lang="tr-TR" sz="1600" dirty="0"/>
              <a:t> Tür; Doç. Dr. </a:t>
            </a:r>
            <a:r>
              <a:rPr lang="tr-TR" sz="1600" dirty="0" err="1"/>
              <a:t>Diaa</a:t>
            </a:r>
            <a:r>
              <a:rPr lang="tr-TR" sz="1600" dirty="0"/>
              <a:t> </a:t>
            </a:r>
            <a:r>
              <a:rPr lang="tr-TR" sz="1600" dirty="0" err="1"/>
              <a:t>Gadelmavla’nın</a:t>
            </a:r>
            <a:r>
              <a:rPr lang="tr-TR" sz="1600" dirty="0"/>
              <a:t> gözetmenliğinde askerlerin sağlık durumunu anlık kontrol edebilecekleri, konumlarını belirleyecekleri taşınabilir bir cihaz geliştirdi. Sadece askeri uygulamalarda değil, sivil savunma ve itfaiye operasyonlarında da kullanılması amaçlanan sistem sayesinde; personel kentsel ve mobil ağların mevcut olduğu alanlarda gerçek zamanlı izlenebilecek, ayrıca personelin sağlık durumu anlık takip edilebilecek.</a:t>
            </a:r>
          </a:p>
        </p:txBody>
      </p:sp>
      <p:pic>
        <p:nvPicPr>
          <p:cNvPr id="4" name="Resim 3"/>
          <p:cNvPicPr>
            <a:picLocks noChangeAspect="1"/>
          </p:cNvPicPr>
          <p:nvPr/>
        </p:nvPicPr>
        <p:blipFill>
          <a:blip r:embed="rId3"/>
          <a:stretch>
            <a:fillRect/>
          </a:stretch>
        </p:blipFill>
        <p:spPr>
          <a:xfrm>
            <a:off x="104956" y="107966"/>
            <a:ext cx="5128101" cy="3411612"/>
          </a:xfrm>
          <a:prstGeom prst="rect">
            <a:avLst/>
          </a:prstGeom>
        </p:spPr>
      </p:pic>
      <p:sp>
        <p:nvSpPr>
          <p:cNvPr id="5" name="Dikdörtgen 4"/>
          <p:cNvSpPr/>
          <p:nvPr/>
        </p:nvSpPr>
        <p:spPr>
          <a:xfrm>
            <a:off x="5770305" y="565166"/>
            <a:ext cx="5558095" cy="2800767"/>
          </a:xfrm>
          <a:prstGeom prst="rect">
            <a:avLst/>
          </a:prstGeom>
        </p:spPr>
        <p:txBody>
          <a:bodyPr wrap="square">
            <a:spAutoFit/>
          </a:bodyPr>
          <a:lstStyle/>
          <a:p>
            <a:r>
              <a:rPr lang="tr-TR" sz="1600" dirty="0" smtClean="0"/>
              <a:t>İnternet sitesi üzerindeki panelden gerçek zamanlı erişim sağlanarak personelin durum ve konum bilgileri görülebilecek ve uzaktan müdahale imkanı bulunabilecek. Kritik durumlarda personelin hayatta kalmasına yardımcı olacak sistem, uygulanacak tıbbi müdahaleye karar vermede önemli bir rol oynayacak. Yardım birlikleri gelene kadar yaralı personelin durumu izlenerek hayatta kalmasını sağlayacak talimatlar da bu şekilde daha verimli ulaştırılmış olacak. Geliştirilen cihaz, içerisinde GSM ve GPS haberleşme modülü, LCD ekran, röle, kalp ritmi, EKG ve sıcaklık ölçümüne yarayan </a:t>
            </a:r>
            <a:r>
              <a:rPr lang="tr-TR" sz="1600" dirty="0" err="1" smtClean="0"/>
              <a:t>sensörler</a:t>
            </a:r>
            <a:r>
              <a:rPr lang="tr-TR" sz="1600" dirty="0" smtClean="0"/>
              <a:t> bulunduruyor.</a:t>
            </a:r>
            <a:endParaRPr lang="tr-TR" sz="1600" dirty="0"/>
          </a:p>
        </p:txBody>
      </p:sp>
      <p:sp>
        <p:nvSpPr>
          <p:cNvPr id="6" name="Dikdörtgen 5"/>
          <p:cNvSpPr/>
          <p:nvPr/>
        </p:nvSpPr>
        <p:spPr>
          <a:xfrm>
            <a:off x="5770305" y="3901440"/>
            <a:ext cx="5558095" cy="2800767"/>
          </a:xfrm>
          <a:prstGeom prst="rect">
            <a:avLst/>
          </a:prstGeom>
        </p:spPr>
        <p:txBody>
          <a:bodyPr wrap="square">
            <a:spAutoFit/>
          </a:bodyPr>
          <a:lstStyle/>
          <a:p>
            <a:r>
              <a:rPr lang="tr-TR" sz="1600" dirty="0" smtClean="0"/>
              <a:t>Proje hakkında bilgi veren İEÜ Elektrik Elektronik Mühendisliği 4. sınıf öğrencileri Alper Köprülü, “Cihaz; askeri personelimiz, kolluk kuvvetlerimiz için giyilebilir olarak tasarlandı. Bu bir tişört, yelek, kemer olabilir. Personelin uzaktan takip edilebilmesi, sağlık durumlarının gözlenebilmesi ve kalp dataları, vücut sıcaklığı ile </a:t>
            </a:r>
            <a:r>
              <a:rPr lang="tr-TR" sz="1600" dirty="0" err="1" smtClean="0"/>
              <a:t>lokasyonunun</a:t>
            </a:r>
            <a:r>
              <a:rPr lang="tr-TR" sz="1600" dirty="0" smtClean="0"/>
              <a:t> tam olarak belirlenebilmesini amaçlıyoruz. Sistem sayesinde operasyonlarda verimlilik amaçlıyoruz. Bu teknoloji yurt dışında kullanıyor. Biz de bu teknolojiyi daha farklı bir noktaya taşıyarak dünyaya pazarlamak istiyoruz” dedi.</a:t>
            </a:r>
            <a:endParaRPr lang="tr-TR" sz="1600" dirty="0"/>
          </a:p>
        </p:txBody>
      </p:sp>
    </p:spTree>
    <p:extLst>
      <p:ext uri="{BB962C8B-B14F-4D97-AF65-F5344CB8AC3E}">
        <p14:creationId xmlns:p14="http://schemas.microsoft.com/office/powerpoint/2010/main" val="8230768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852420" y="0"/>
            <a:ext cx="6990320" cy="894079"/>
          </a:xfrm>
        </p:spPr>
        <p:txBody>
          <a:bodyPr>
            <a:normAutofit fontScale="90000"/>
          </a:bodyPr>
          <a:lstStyle/>
          <a:p>
            <a:r>
              <a:rPr lang="tr-TR" sz="3000" dirty="0">
                <a:solidFill>
                  <a:schemeClr val="accent5">
                    <a:lumMod val="75000"/>
                  </a:schemeClr>
                </a:solidFill>
              </a:rPr>
              <a:t>Kablosuz Şarj </a:t>
            </a:r>
            <a:r>
              <a:rPr lang="tr-TR" sz="3000" dirty="0" smtClean="0">
                <a:solidFill>
                  <a:schemeClr val="accent5">
                    <a:lumMod val="75000"/>
                  </a:schemeClr>
                </a:solidFill>
              </a:rPr>
              <a:t>Sayesinde Çalışan </a:t>
            </a:r>
            <a:r>
              <a:rPr lang="tr-TR" sz="3000" dirty="0" err="1">
                <a:solidFill>
                  <a:schemeClr val="accent5">
                    <a:lumMod val="75000"/>
                  </a:schemeClr>
                </a:solidFill>
              </a:rPr>
              <a:t>Drone’lar</a:t>
            </a:r>
            <a:r>
              <a:rPr lang="tr-TR" sz="3000" dirty="0">
                <a:solidFill>
                  <a:schemeClr val="accent5">
                    <a:lumMod val="75000"/>
                  </a:schemeClr>
                </a:solidFill>
              </a:rPr>
              <a:t/>
            </a:r>
            <a:br>
              <a:rPr lang="tr-TR" sz="3000" dirty="0">
                <a:solidFill>
                  <a:schemeClr val="accent5">
                    <a:lumMod val="75000"/>
                  </a:schemeClr>
                </a:solidFill>
              </a:rPr>
            </a:br>
            <a:endParaRPr lang="tr-TR" sz="3000" dirty="0">
              <a:solidFill>
                <a:schemeClr val="accent5">
                  <a:lumMod val="75000"/>
                </a:schemeClr>
              </a:solidFill>
            </a:endParaRPr>
          </a:p>
        </p:txBody>
      </p:sp>
      <p:sp>
        <p:nvSpPr>
          <p:cNvPr id="3" name="İçerik Yer Tutucusu 2"/>
          <p:cNvSpPr>
            <a:spLocks noGrp="1"/>
          </p:cNvSpPr>
          <p:nvPr>
            <p:ph idx="1"/>
          </p:nvPr>
        </p:nvSpPr>
        <p:spPr>
          <a:xfrm>
            <a:off x="7280144" y="5395950"/>
            <a:ext cx="3606224" cy="501939"/>
          </a:xfrm>
        </p:spPr>
        <p:txBody>
          <a:bodyPr>
            <a:normAutofit fontScale="92500"/>
          </a:bodyPr>
          <a:lstStyle/>
          <a:p>
            <a:pPr marL="0" indent="0">
              <a:buNone/>
            </a:pPr>
            <a:r>
              <a:rPr lang="tr-TR" sz="2000" dirty="0" smtClean="0"/>
              <a:t>https://youtu.be/uylHY8abhIQ</a:t>
            </a:r>
            <a:endParaRPr lang="tr-TR" sz="2000" dirty="0"/>
          </a:p>
        </p:txBody>
      </p:sp>
      <p:sp>
        <p:nvSpPr>
          <p:cNvPr id="4" name="Dikdörtgen 3"/>
          <p:cNvSpPr/>
          <p:nvPr/>
        </p:nvSpPr>
        <p:spPr>
          <a:xfrm>
            <a:off x="117763" y="635307"/>
            <a:ext cx="5669973" cy="923330"/>
          </a:xfrm>
          <a:prstGeom prst="rect">
            <a:avLst/>
          </a:prstGeom>
        </p:spPr>
        <p:txBody>
          <a:bodyPr wrap="square">
            <a:spAutoFit/>
          </a:bodyPr>
          <a:lstStyle/>
          <a:p>
            <a:r>
              <a:rPr lang="tr-TR" b="0" i="0" dirty="0" err="1" smtClean="0">
                <a:solidFill>
                  <a:srgbClr val="212529"/>
                </a:solidFill>
                <a:effectLst/>
                <a:latin typeface="Open Sans"/>
              </a:rPr>
              <a:t>Imperial</a:t>
            </a:r>
            <a:r>
              <a:rPr lang="tr-TR" b="0" i="0" dirty="0" smtClean="0">
                <a:solidFill>
                  <a:srgbClr val="212529"/>
                </a:solidFill>
                <a:effectLst/>
                <a:latin typeface="Open Sans"/>
              </a:rPr>
              <a:t> </a:t>
            </a:r>
            <a:r>
              <a:rPr lang="tr-TR" b="0" i="0" dirty="0" err="1" smtClean="0">
                <a:solidFill>
                  <a:srgbClr val="212529"/>
                </a:solidFill>
                <a:effectLst/>
                <a:latin typeface="Open Sans"/>
              </a:rPr>
              <a:t>College</a:t>
            </a:r>
            <a:r>
              <a:rPr lang="tr-TR" b="0" i="0" dirty="0" smtClean="0">
                <a:solidFill>
                  <a:srgbClr val="212529"/>
                </a:solidFill>
                <a:effectLst/>
                <a:latin typeface="Open Sans"/>
              </a:rPr>
              <a:t> of </a:t>
            </a:r>
            <a:r>
              <a:rPr lang="tr-TR" b="0" i="0" dirty="0" err="1" smtClean="0">
                <a:solidFill>
                  <a:srgbClr val="212529"/>
                </a:solidFill>
                <a:effectLst/>
                <a:latin typeface="Open Sans"/>
              </a:rPr>
              <a:t>London'da</a:t>
            </a:r>
            <a:r>
              <a:rPr lang="tr-TR" b="0" i="0" dirty="0" smtClean="0">
                <a:solidFill>
                  <a:srgbClr val="212529"/>
                </a:solidFill>
                <a:effectLst/>
                <a:latin typeface="Open Sans"/>
              </a:rPr>
              <a:t> çalışan akademisyenler kablosuz şarj ile sonsuza dek havada kalabilen </a:t>
            </a:r>
            <a:r>
              <a:rPr lang="tr-TR" b="0" i="0" dirty="0" err="1" smtClean="0">
                <a:solidFill>
                  <a:srgbClr val="212529"/>
                </a:solidFill>
                <a:effectLst/>
                <a:latin typeface="Open Sans"/>
              </a:rPr>
              <a:t>drone</a:t>
            </a:r>
            <a:r>
              <a:rPr lang="tr-TR" b="0" i="0" dirty="0" smtClean="0">
                <a:solidFill>
                  <a:srgbClr val="212529"/>
                </a:solidFill>
                <a:effectLst/>
                <a:latin typeface="Open Sans"/>
              </a:rPr>
              <a:t> üzerinde çalışıyor.</a:t>
            </a:r>
            <a:endParaRPr lang="tr-TR" b="0" i="0" dirty="0">
              <a:solidFill>
                <a:srgbClr val="212529"/>
              </a:solidFill>
              <a:effectLst/>
              <a:latin typeface="Open Sans"/>
            </a:endParaRPr>
          </a:p>
        </p:txBody>
      </p:sp>
      <p:sp>
        <p:nvSpPr>
          <p:cNvPr id="5" name="Dikdörtgen 4"/>
          <p:cNvSpPr/>
          <p:nvPr/>
        </p:nvSpPr>
        <p:spPr>
          <a:xfrm>
            <a:off x="117762" y="1648881"/>
            <a:ext cx="5669973" cy="2031325"/>
          </a:xfrm>
          <a:prstGeom prst="rect">
            <a:avLst/>
          </a:prstGeom>
        </p:spPr>
        <p:txBody>
          <a:bodyPr wrap="square">
            <a:spAutoFit/>
          </a:bodyPr>
          <a:lstStyle/>
          <a:p>
            <a:r>
              <a:rPr lang="tr-TR" b="0" i="0" dirty="0" smtClean="0">
                <a:solidFill>
                  <a:srgbClr val="1F1F1F"/>
                </a:solidFill>
                <a:effectLst/>
                <a:latin typeface="Open Sans"/>
              </a:rPr>
              <a:t>Gerek hobi gerek ticari amaçlı kullanılan </a:t>
            </a:r>
            <a:r>
              <a:rPr lang="tr-TR" b="0" i="0" dirty="0" err="1" smtClean="0">
                <a:solidFill>
                  <a:srgbClr val="1F1F1F"/>
                </a:solidFill>
                <a:effectLst/>
                <a:latin typeface="Open Sans"/>
              </a:rPr>
              <a:t>drone’lar</a:t>
            </a:r>
            <a:r>
              <a:rPr lang="tr-TR" b="0" i="0" dirty="0" smtClean="0">
                <a:solidFill>
                  <a:srgbClr val="1F1F1F"/>
                </a:solidFill>
                <a:effectLst/>
                <a:latin typeface="Open Sans"/>
              </a:rPr>
              <a:t> olsun, havada geçirebildikleri ortalama süre 20 – 30 dakikanın üzerine çıkamıyor. Bunun sebebi de pillerinin bir noktada bitmesi. </a:t>
            </a:r>
            <a:r>
              <a:rPr lang="tr-TR" b="0" i="0" dirty="0" err="1" smtClean="0">
                <a:solidFill>
                  <a:srgbClr val="1F1F1F"/>
                </a:solidFill>
                <a:effectLst/>
                <a:latin typeface="Open Sans"/>
              </a:rPr>
              <a:t>Drone’a</a:t>
            </a:r>
            <a:r>
              <a:rPr lang="tr-TR" b="0" i="0" dirty="0" smtClean="0">
                <a:solidFill>
                  <a:srgbClr val="1F1F1F"/>
                </a:solidFill>
                <a:effectLst/>
                <a:latin typeface="Open Sans"/>
              </a:rPr>
              <a:t> daha güçlü ve daha büyük bir yerleştirmek de çözüm değil, çünkü o halde araç daha ağır oluyor ve daha fazla enerji tüketiyor.</a:t>
            </a:r>
            <a:endParaRPr lang="tr-TR" dirty="0"/>
          </a:p>
        </p:txBody>
      </p:sp>
      <p:sp>
        <p:nvSpPr>
          <p:cNvPr id="7" name="Dikdörtgen 6"/>
          <p:cNvSpPr/>
          <p:nvPr/>
        </p:nvSpPr>
        <p:spPr>
          <a:xfrm>
            <a:off x="117763" y="3766607"/>
            <a:ext cx="5669973" cy="2862322"/>
          </a:xfrm>
          <a:prstGeom prst="rect">
            <a:avLst/>
          </a:prstGeom>
        </p:spPr>
        <p:txBody>
          <a:bodyPr wrap="square">
            <a:spAutoFit/>
          </a:bodyPr>
          <a:lstStyle/>
          <a:p>
            <a:r>
              <a:rPr lang="tr-TR" b="0" i="0" dirty="0" err="1" smtClean="0">
                <a:solidFill>
                  <a:srgbClr val="1F1F1F"/>
                </a:solidFill>
                <a:effectLst/>
                <a:latin typeface="Open Sans"/>
              </a:rPr>
              <a:t>Imperial</a:t>
            </a:r>
            <a:r>
              <a:rPr lang="tr-TR" b="0" i="0" dirty="0" smtClean="0">
                <a:solidFill>
                  <a:srgbClr val="1F1F1F"/>
                </a:solidFill>
                <a:effectLst/>
                <a:latin typeface="Open Sans"/>
              </a:rPr>
              <a:t> </a:t>
            </a:r>
            <a:r>
              <a:rPr lang="tr-TR" b="0" i="0" dirty="0" err="1" smtClean="0">
                <a:solidFill>
                  <a:srgbClr val="1F1F1F"/>
                </a:solidFill>
                <a:effectLst/>
                <a:latin typeface="Open Sans"/>
              </a:rPr>
              <a:t>College</a:t>
            </a:r>
            <a:r>
              <a:rPr lang="tr-TR" b="0" i="0" dirty="0" smtClean="0">
                <a:solidFill>
                  <a:srgbClr val="1F1F1F"/>
                </a:solidFill>
                <a:effectLst/>
                <a:latin typeface="Open Sans"/>
              </a:rPr>
              <a:t> of </a:t>
            </a:r>
            <a:r>
              <a:rPr lang="tr-TR" b="0" i="0" dirty="0" err="1" smtClean="0">
                <a:solidFill>
                  <a:srgbClr val="1F1F1F"/>
                </a:solidFill>
                <a:effectLst/>
                <a:latin typeface="Open Sans"/>
              </a:rPr>
              <a:t>London’daki</a:t>
            </a:r>
            <a:r>
              <a:rPr lang="tr-TR" b="0" i="0" dirty="0" smtClean="0">
                <a:solidFill>
                  <a:srgbClr val="1F1F1F"/>
                </a:solidFill>
                <a:effectLst/>
                <a:latin typeface="Open Sans"/>
              </a:rPr>
              <a:t> akademisyenlerin çalışmaları sonucunda dahili pili olmayan ve zeminden sürekli olarak güç aktarılan bir model üzerinde çalışıyor. Henüz erken dönem araştırma aşamasında olan proje hakkında </a:t>
            </a:r>
            <a:r>
              <a:rPr lang="tr-TR" b="0" i="0" u="none" strike="noStrike" dirty="0" smtClean="0">
                <a:effectLst/>
                <a:latin typeface="Open Sans"/>
                <a:hlinkClick r:id="rId2"/>
              </a:rPr>
              <a:t>yayınlanan makale</a:t>
            </a:r>
            <a:r>
              <a:rPr lang="tr-TR" b="0" i="0" dirty="0" smtClean="0">
                <a:solidFill>
                  <a:srgbClr val="1F1F1F"/>
                </a:solidFill>
                <a:effectLst/>
                <a:latin typeface="Open Sans"/>
              </a:rPr>
              <a:t>, şu anda sadece 12 </a:t>
            </a:r>
            <a:r>
              <a:rPr lang="tr-TR" b="0" i="0" dirty="0" err="1" smtClean="0">
                <a:solidFill>
                  <a:srgbClr val="1F1F1F"/>
                </a:solidFill>
                <a:effectLst/>
                <a:latin typeface="Open Sans"/>
              </a:rPr>
              <a:t>cm’lik</a:t>
            </a:r>
            <a:r>
              <a:rPr lang="tr-TR" b="0" i="0" dirty="0" smtClean="0">
                <a:solidFill>
                  <a:srgbClr val="1F1F1F"/>
                </a:solidFill>
                <a:effectLst/>
                <a:latin typeface="Open Sans"/>
              </a:rPr>
              <a:t> minik bir </a:t>
            </a:r>
            <a:r>
              <a:rPr lang="tr-TR" b="0" i="0" dirty="0" err="1" smtClean="0">
                <a:solidFill>
                  <a:srgbClr val="1F1F1F"/>
                </a:solidFill>
                <a:effectLst/>
                <a:latin typeface="Open Sans"/>
              </a:rPr>
              <a:t>drone’u</a:t>
            </a:r>
            <a:r>
              <a:rPr lang="tr-TR" b="0" i="0" dirty="0" smtClean="0">
                <a:solidFill>
                  <a:srgbClr val="1F1F1F"/>
                </a:solidFill>
                <a:effectLst/>
                <a:latin typeface="Open Sans"/>
              </a:rPr>
              <a:t> havada tutabiliyor. Pervanelerinin etrafındaki bakır folyo, zeminden enerjiyi alarak araca iletiyor. Ancak bu enerjinin ısınarak </a:t>
            </a:r>
            <a:r>
              <a:rPr lang="tr-TR" b="0" i="0" dirty="0" err="1" smtClean="0">
                <a:solidFill>
                  <a:srgbClr val="1F1F1F"/>
                </a:solidFill>
                <a:effectLst/>
                <a:latin typeface="Open Sans"/>
              </a:rPr>
              <a:t>drone’un</a:t>
            </a:r>
            <a:r>
              <a:rPr lang="tr-TR" b="0" i="0" dirty="0" smtClean="0">
                <a:solidFill>
                  <a:srgbClr val="1F1F1F"/>
                </a:solidFill>
                <a:effectLst/>
                <a:latin typeface="Open Sans"/>
              </a:rPr>
              <a:t> temel parçalarını kızartmaması için ayrı mühendisler çalışma yürütüyor.</a:t>
            </a:r>
            <a:endParaRPr lang="tr-TR" dirty="0"/>
          </a:p>
        </p:txBody>
      </p:sp>
      <p:cxnSp>
        <p:nvCxnSpPr>
          <p:cNvPr id="9" name="Düz Ok Bağlayıcısı 8"/>
          <p:cNvCxnSpPr/>
          <p:nvPr/>
        </p:nvCxnSpPr>
        <p:spPr>
          <a:xfrm>
            <a:off x="8960889" y="3816722"/>
            <a:ext cx="10391" cy="1503969"/>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Metin kutusu 14"/>
          <p:cNvSpPr txBox="1"/>
          <p:nvPr/>
        </p:nvSpPr>
        <p:spPr>
          <a:xfrm>
            <a:off x="7182810" y="3107998"/>
            <a:ext cx="4313540" cy="646331"/>
          </a:xfrm>
          <a:prstGeom prst="rect">
            <a:avLst/>
          </a:prstGeom>
          <a:noFill/>
        </p:spPr>
        <p:txBody>
          <a:bodyPr wrap="square" rtlCol="0">
            <a:spAutoFit/>
          </a:bodyPr>
          <a:lstStyle/>
          <a:p>
            <a:r>
              <a:rPr lang="tr-TR" dirty="0" smtClean="0"/>
              <a:t>Projenin </a:t>
            </a:r>
            <a:r>
              <a:rPr lang="tr-TR" dirty="0" smtClean="0"/>
              <a:t>tanıtım videolarına </a:t>
            </a:r>
            <a:r>
              <a:rPr lang="tr-TR" dirty="0" smtClean="0"/>
              <a:t>aşağıdaki </a:t>
            </a:r>
            <a:r>
              <a:rPr lang="tr-TR" dirty="0" smtClean="0"/>
              <a:t>linklerden </a:t>
            </a:r>
            <a:r>
              <a:rPr lang="tr-TR" dirty="0" smtClean="0"/>
              <a:t>ulaşabilirsiniz.</a:t>
            </a:r>
            <a:endParaRPr lang="tr-TR" dirty="0"/>
          </a:p>
        </p:txBody>
      </p:sp>
      <p:sp>
        <p:nvSpPr>
          <p:cNvPr id="6" name="Dikdörtgen 5"/>
          <p:cNvSpPr/>
          <p:nvPr/>
        </p:nvSpPr>
        <p:spPr>
          <a:xfrm>
            <a:off x="7280144" y="5897889"/>
            <a:ext cx="3382273" cy="400110"/>
          </a:xfrm>
          <a:prstGeom prst="rect">
            <a:avLst/>
          </a:prstGeom>
        </p:spPr>
        <p:txBody>
          <a:bodyPr wrap="none">
            <a:spAutoFit/>
          </a:bodyPr>
          <a:lstStyle/>
          <a:p>
            <a:r>
              <a:rPr lang="tr-TR" sz="2000" dirty="0"/>
              <a:t>https://youtu.be/LLfG16wj_Hg</a:t>
            </a:r>
          </a:p>
        </p:txBody>
      </p:sp>
      <p:sp>
        <p:nvSpPr>
          <p:cNvPr id="8" name="Dikdörtgen 7"/>
          <p:cNvSpPr/>
          <p:nvPr/>
        </p:nvSpPr>
        <p:spPr>
          <a:xfrm>
            <a:off x="5998064" y="635307"/>
            <a:ext cx="6096000" cy="2308324"/>
          </a:xfrm>
          <a:prstGeom prst="rect">
            <a:avLst/>
          </a:prstGeom>
        </p:spPr>
        <p:txBody>
          <a:bodyPr>
            <a:spAutoFit/>
          </a:bodyPr>
          <a:lstStyle/>
          <a:p>
            <a:r>
              <a:rPr lang="tr-TR" dirty="0">
                <a:solidFill>
                  <a:srgbClr val="1F1F1F"/>
                </a:solidFill>
                <a:latin typeface="Open Sans"/>
              </a:rPr>
              <a:t>Facebook’un </a:t>
            </a:r>
            <a:r>
              <a:rPr lang="tr-TR" dirty="0" err="1">
                <a:latin typeface="Open Sans"/>
                <a:hlinkClick r:id="rId3"/>
              </a:rPr>
              <a:t>Aquila</a:t>
            </a:r>
            <a:r>
              <a:rPr lang="tr-TR" dirty="0">
                <a:solidFill>
                  <a:srgbClr val="1F1F1F"/>
                </a:solidFill>
                <a:latin typeface="Open Sans"/>
              </a:rPr>
              <a:t> isimli kanatlı </a:t>
            </a:r>
            <a:r>
              <a:rPr lang="tr-TR" dirty="0" err="1">
                <a:solidFill>
                  <a:srgbClr val="1F1F1F"/>
                </a:solidFill>
                <a:latin typeface="Open Sans"/>
              </a:rPr>
              <a:t>drone’u</a:t>
            </a:r>
            <a:r>
              <a:rPr lang="tr-TR" dirty="0">
                <a:solidFill>
                  <a:srgbClr val="1F1F1F"/>
                </a:solidFill>
                <a:latin typeface="Open Sans"/>
              </a:rPr>
              <a:t> tüm Dünya üzerinde Güneş enerjisiyle uçarak internet erişimi sağlamayı amaçlıyor. Google’ın ise </a:t>
            </a:r>
            <a:r>
              <a:rPr lang="tr-TR" dirty="0" err="1">
                <a:solidFill>
                  <a:srgbClr val="1F1F1F"/>
                </a:solidFill>
                <a:latin typeface="Open Sans"/>
                <a:hlinkClick r:id="rId4"/>
              </a:rPr>
              <a:t>SkyBender</a:t>
            </a:r>
            <a:r>
              <a:rPr lang="tr-TR" dirty="0">
                <a:solidFill>
                  <a:srgbClr val="1F1F1F"/>
                </a:solidFill>
                <a:latin typeface="Open Sans"/>
              </a:rPr>
              <a:t> projesiyle yine yerküre üzerinde güneş enerjisiyle uçan ve 5G internet erişimi sunan bir </a:t>
            </a:r>
            <a:r>
              <a:rPr lang="tr-TR" dirty="0" err="1">
                <a:solidFill>
                  <a:srgbClr val="1F1F1F"/>
                </a:solidFill>
                <a:latin typeface="Open Sans"/>
              </a:rPr>
              <a:t>drone</a:t>
            </a:r>
            <a:r>
              <a:rPr lang="tr-TR" dirty="0">
                <a:solidFill>
                  <a:srgbClr val="1F1F1F"/>
                </a:solidFill>
                <a:latin typeface="Open Sans"/>
              </a:rPr>
              <a:t> üzerinde çalıştığı biliniyor. Tüm bu devlerin yanında Solar </a:t>
            </a:r>
            <a:r>
              <a:rPr lang="tr-TR" dirty="0" err="1">
                <a:solidFill>
                  <a:srgbClr val="1F1F1F"/>
                </a:solidFill>
                <a:latin typeface="Open Sans"/>
              </a:rPr>
              <a:t>Impulse</a:t>
            </a:r>
            <a:r>
              <a:rPr lang="tr-TR" dirty="0">
                <a:solidFill>
                  <a:srgbClr val="1F1F1F"/>
                </a:solidFill>
                <a:latin typeface="Open Sans"/>
              </a:rPr>
              <a:t>, tamamen güneş enerjisini kullanarak Mart 2015’te dünya turuna çıkmış ve Temmuz 2016’da turunu </a:t>
            </a:r>
            <a:r>
              <a:rPr lang="tr-TR" dirty="0">
                <a:solidFill>
                  <a:srgbClr val="1F1F1F"/>
                </a:solidFill>
                <a:latin typeface="Open Sans"/>
                <a:hlinkClick r:id="rId5"/>
              </a:rPr>
              <a:t>tamamlamıştı</a:t>
            </a:r>
            <a:endParaRPr lang="tr-TR" dirty="0"/>
          </a:p>
        </p:txBody>
      </p:sp>
    </p:spTree>
    <p:extLst>
      <p:ext uri="{BB962C8B-B14F-4D97-AF65-F5344CB8AC3E}">
        <p14:creationId xmlns:p14="http://schemas.microsoft.com/office/powerpoint/2010/main" val="814651237"/>
      </p:ext>
    </p:extLst>
  </p:cSld>
  <p:clrMapOvr>
    <a:masterClrMapping/>
  </p:clrMapOvr>
  <p:timing>
    <p:tnLst>
      <p:par>
        <p:cTn id="1" dur="indefinite" restart="never" nodeType="tmRoot"/>
      </p:par>
    </p:tnLst>
  </p:timing>
</p:sld>
</file>

<file path=ppt/theme/theme1.xml><?xml version="1.0" encoding="utf-8"?>
<a:theme xmlns:a="http://schemas.openxmlformats.org/drawingml/2006/main" name="Kristal">
  <a:themeElements>
    <a:clrScheme name="Kristal">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Kristal">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ristal">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82</TotalTime>
  <Words>469</Words>
  <Application>Microsoft Office PowerPoint</Application>
  <PresentationFormat>Geniş ekran</PresentationFormat>
  <Paragraphs>17</Paragraphs>
  <Slides>3</Slides>
  <Notes>2</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3</vt:i4>
      </vt:variant>
    </vt:vector>
  </HeadingPairs>
  <TitlesOfParts>
    <vt:vector size="9" baseType="lpstr">
      <vt:lpstr>Arial</vt:lpstr>
      <vt:lpstr>Calibri</vt:lpstr>
      <vt:lpstr>Open Sans</vt:lpstr>
      <vt:lpstr>Trebuchet MS</vt:lpstr>
      <vt:lpstr>Wingdings 3</vt:lpstr>
      <vt:lpstr>Kristal</vt:lpstr>
      <vt:lpstr>Askerlerin anlık durumunu tespit edecek cihaz </vt:lpstr>
      <vt:lpstr>Detaylar:</vt:lpstr>
      <vt:lpstr>Kablosuz Şarj Sayesinde Çalışan Drone’lar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Askerlerin anlık durumunu tespit edecek cihaz</dc:title>
  <dc:creator>BUĞU HAN</dc:creator>
  <cp:lastModifiedBy>BUĞU HAN</cp:lastModifiedBy>
  <cp:revision>8</cp:revision>
  <dcterms:created xsi:type="dcterms:W3CDTF">2025-01-12T15:12:59Z</dcterms:created>
  <dcterms:modified xsi:type="dcterms:W3CDTF">2025-01-13T16:44:57Z</dcterms:modified>
</cp:coreProperties>
</file>